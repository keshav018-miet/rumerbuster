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201168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411480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8BDF8"/>
                </a:solidFill>
                <a:latin typeface="Segoe UI"/>
              </a:defRPr>
            </a:pPr>
            <a:r>
              <a:t>AI-POWERED MULTIMEDIA FORENSICS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  <a:latin typeface="Segoe UI"/>
              </a:defRPr>
            </a:pPr>
            <a:r>
              <a:t>RUMORBUSTER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BD5E1"/>
                </a:solidFill>
                <a:latin typeface="Segoe UI"/>
              </a:defRPr>
            </a:pPr>
            <a:r>
              <a:t>Digital Content Verification &amp; Multimedia Forensic Analysis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10698480" cy="1920240"/>
          </a:xfrm>
          <a:prstGeom prst="roundRect">
            <a:avLst/>
          </a:prstGeom>
          <a:solidFill>
            <a:srgbClr val="18223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4340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8BDF8"/>
                </a:solidFill>
                <a:latin typeface="Segoe UI"/>
              </a:rPr>
              <a:t>Core Engineering:  </a:t>
            </a:r>
            <a:r>
              <a:rPr sz="1100">
                <a:solidFill>
                  <a:srgbClr val="F1F5F9"/>
                </a:solidFill>
                <a:latin typeface="Segoe UI"/>
              </a:rPr>
              <a:t>Python 3.11, Flask WSGI, PyTorch, Scikit-learn, Google Gemini 2.5 Flash (RAG)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8BDF8"/>
                </a:solidFill>
                <a:latin typeface="Segoe UI"/>
              </a:rPr>
              <a:t>Computer Vision:  </a:t>
            </a:r>
            <a:r>
              <a:rPr sz="1100">
                <a:solidFill>
                  <a:srgbClr val="F1F5F9"/>
                </a:solidFill>
                <a:latin typeface="Segoe UI"/>
              </a:rPr>
              <a:t>Facenet-PyTorch (MTCNN 30% margin) + timm (EfficientNet-B7 Noisy Student DFDC winner)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8BDF8"/>
                </a:solidFill>
                <a:latin typeface="Segoe UI"/>
              </a:rPr>
              <a:t>Live Deployments:  </a:t>
            </a:r>
            <a:r>
              <a:rPr sz="1100">
                <a:solidFill>
                  <a:srgbClr val="F1F5F9"/>
                </a:solidFill>
                <a:latin typeface="Segoe UI"/>
              </a:rPr>
              <a:t>Vercel Edge Serverless (Production) &amp; Cloudflare Secure Tunnel (Live Daemon)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8BDF8"/>
                </a:solidFill>
                <a:latin typeface="Segoe UI"/>
              </a:rPr>
              <a:t>GitHub Repository:  </a:t>
            </a:r>
            <a:r>
              <a:rPr sz="1100">
                <a:solidFill>
                  <a:srgbClr val="F1F5F9"/>
                </a:solidFill>
                <a:latin typeface="Segoe UI"/>
              </a:rPr>
              <a:t>https://github.com/Keshav018-miet/RumerBuster (branch: main)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01. 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The Disinformation Crisis &amp; Our Core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Why automated multi-modal verification is urgently required for digital integrity.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DC2626"/>
                </a:solidFill>
                <a:latin typeface="Segoe UI"/>
              </a:defRPr>
            </a:pPr>
            <a:r>
              <a:t>The Disinformation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- Viral Misinformation Spread: </a:t>
            </a:r>
            <a:r>
              <a:rPr sz="1000">
                <a:solidFill>
                  <a:srgbClr val="475569"/>
                </a:solidFill>
                <a:latin typeface="Segoe UI"/>
              </a:rPr>
              <a:t>False news and deceptive claims travel 6x faster than verified truth across social media channels.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- Proliferation of Synthetic Media: </a:t>
            </a:r>
            <a:r>
              <a:rPr sz="1000">
                <a:solidFill>
                  <a:srgbClr val="475569"/>
                </a:solidFill>
                <a:latin typeface="Segoe UI"/>
              </a:rPr>
              <a:t>Accessible AI deepfakes and generative imaging make digital manipulation indistinguishable to the human eye.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- Manual Fact-Checking Bottleneck: </a:t>
            </a:r>
            <a:r>
              <a:rPr sz="1000">
                <a:solidFill>
                  <a:srgbClr val="475569"/>
                </a:solidFill>
                <a:latin typeface="Segoe UI"/>
              </a:rPr>
              <a:t>Traditional journalism takes hours or days to verify breaking events, leaving public safety vulnerable.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- Static Model Blindness: </a:t>
            </a:r>
            <a:r>
              <a:rPr sz="1000">
                <a:solidFill>
                  <a:srgbClr val="475569"/>
                </a:solidFill>
                <a:latin typeface="Segoe UI"/>
              </a:rPr>
              <a:t>Standard NLP classifiers trained on static datasets hallucinate or fail entirely on real-time breaking events.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The RumorBuster 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- Automated Multi-Modal Forensics: </a:t>
            </a:r>
            <a:r>
              <a:rPr sz="1000">
                <a:solidFill>
                  <a:srgbClr val="475569"/>
                </a:solidFill>
                <a:latin typeface="Segoe UI"/>
              </a:rPr>
              <a:t>Verifies text statements, live web claims, facial images, and file tampering in under 3 seconds.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- Concurrent RAG Fact-Checking: </a:t>
            </a:r>
            <a:r>
              <a:rPr sz="1000">
                <a:solidFill>
                  <a:srgbClr val="475569"/>
                </a:solidFill>
                <a:latin typeface="Segoe UI"/>
              </a:rPr>
              <a:t>Queries 5 live news services simultaneously with strict 24-48h recency filtering and Gemini 2.5 Flash synthesis.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- Kaggle DFDC-Winning Vision: </a:t>
            </a:r>
            <a:r>
              <a:rPr sz="1000">
                <a:solidFill>
                  <a:srgbClr val="475569"/>
                </a:solidFill>
                <a:latin typeface="Segoe UI"/>
              </a:rPr>
              <a:t>Employs MTCNN face extraction with 30% margin expansion and EfficientNet-B7 classification.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  <a:latin typeface="Segoe UI"/>
              </a:rPr>
              <a:t>- Auditable Chain of Custody: </a:t>
            </a:r>
            <a:r>
              <a:rPr sz="1000">
                <a:solidFill>
                  <a:srgbClr val="475569"/>
                </a:solidFill>
                <a:latin typeface="Segoe UI"/>
              </a:rPr>
              <a:t>Issues cryptographic SHA-256 and perceptual pHash forensic reports with immutable UUID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02. ARCHITECTURE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Modular Multi-Tier Forensic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End-to-end request lifecycle from multi-modal input to cryptographic audit report.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1. Ingestion &amp;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77440"/>
            <a:ext cx="290779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Executive UI: </a:t>
            </a:r>
            <a:r>
              <a:rPr sz="950">
                <a:solidFill>
                  <a:srgbClr val="475569"/>
                </a:solidFill>
              </a:rPr>
              <a:t>Clean, responsive slate/charcoal interface built with HTML5, CSS3 &amp; Jinja2.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Flask WSGI Server: </a:t>
            </a:r>
            <a:r>
              <a:rPr sz="950">
                <a:solidFill>
                  <a:srgbClr val="475569"/>
                </a:solidFill>
              </a:rPr>
              <a:t>Python backend managing routing, session cookies, and API controllers.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Security Guards: </a:t>
            </a:r>
            <a:r>
              <a:rPr sz="950">
                <a:solidFill>
                  <a:srgbClr val="475569"/>
                </a:solidFill>
              </a:rPr>
              <a:t>@login_required decorators, PBKDF2 password hashing, and 50MB payload limits.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Sanitization: </a:t>
            </a:r>
            <a:r>
              <a:rPr sz="950">
                <a:solidFill>
                  <a:srgbClr val="475569"/>
                </a:solidFill>
              </a:rPr>
              <a:t>secure_filename filtering and strict extension whitelisting (PNG, JPG, MP4).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64592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27448" y="192024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333EA"/>
                </a:solidFill>
                <a:latin typeface="Segoe UI"/>
              </a:defRPr>
            </a:pPr>
            <a:r>
              <a:t>2. Forensic Engines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2377440"/>
            <a:ext cx="290779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NLP Text Classifier: </a:t>
            </a:r>
            <a:r>
              <a:rPr sz="950">
                <a:solidFill>
                  <a:srgbClr val="475569"/>
                </a:solidFill>
              </a:rPr>
              <a:t>TF-IDF (5k features) + Logistic Regression scoring lexical authenticity.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Live RAG Engine: </a:t>
            </a:r>
            <a:r>
              <a:rPr sz="950">
                <a:solidFill>
                  <a:srgbClr val="475569"/>
                </a:solidFill>
              </a:rPr>
              <a:t>ThreadPoolExecutor concurrently querying 5 live news APIs (Google News, NewsAPI, Inshorts).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Gemini 2.5 Flash: </a:t>
            </a:r>
            <a:r>
              <a:rPr sz="950">
                <a:solidFill>
                  <a:srgbClr val="475569"/>
                </a:solidFill>
              </a:rPr>
              <a:t>Evaluates retrieved web evidence with rigid JSON schema consensus.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Computer Vision: </a:t>
            </a:r>
            <a:r>
              <a:rPr sz="950">
                <a:solidFill>
                  <a:srgbClr val="475569"/>
                </a:solidFill>
              </a:rPr>
              <a:t>MTCNN face extraction (30% margin) + EfficientNet-B7 deepfake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45920"/>
            <a:ext cx="3364992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03336" y="192024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3. Storage &amp;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377440"/>
            <a:ext cx="2907792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SHA-256 Hashing: </a:t>
            </a:r>
            <a:r>
              <a:rPr sz="950">
                <a:solidFill>
                  <a:srgbClr val="475569"/>
                </a:solidFill>
              </a:rPr>
              <a:t>Bit-exact cryptographic signature calculation for digital file verification.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Perceptual pHash: </a:t>
            </a:r>
            <a:r>
              <a:rPr sz="950">
                <a:solidFill>
                  <a:srgbClr val="475569"/>
                </a:solidFill>
              </a:rPr>
              <a:t>DCT-based visual structure footprint tracking localized manipulation.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EXIF Forensics: </a:t>
            </a:r>
            <a:r>
              <a:rPr sz="950">
                <a:solidFill>
                  <a:srgbClr val="475569"/>
                </a:solidFill>
              </a:rPr>
              <a:t>Camera metadata, timestamp, GPS, and software editing signatures.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Chain of Custody: </a:t>
            </a:r>
            <a:r>
              <a:rPr sz="950">
                <a:solidFill>
                  <a:srgbClr val="475569"/>
                </a:solidFill>
              </a:rPr>
              <a:t>Immutable SQLite audit logs tagged with UUIDv4, timestamps, and confidence ratings.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03. TEXT &amp; NEWS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Multi-Source RAG &amp; Consensus 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Eliminating LLM hallucinations by coupling real-time retrieval with structured generative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NLP Classifier (Static Baseline)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Feature Extraction: </a:t>
            </a:r>
            <a:r>
              <a:rPr sz="1000">
                <a:solidFill>
                  <a:srgbClr val="475569"/>
                </a:solidFill>
              </a:rPr>
              <a:t>Text is sanitized, stripped of stop words, and mapped into sparse TF-IDF n-grams (1, 2) up to 5,000 features.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Logistic Regression: </a:t>
            </a:r>
            <a:r>
              <a:rPr sz="1000">
                <a:solidFill>
                  <a:srgbClr val="475569"/>
                </a:solidFill>
              </a:rPr>
              <a:t>Computes probabilistic confidence via sigmoid distribution in ~2.4 milliseconds.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Explainable Scoring: </a:t>
            </a:r>
            <a:r>
              <a:rPr sz="1000">
                <a:solidFill>
                  <a:srgbClr val="475569"/>
                </a:solidFill>
              </a:rPr>
              <a:t>Provides transparent weights for feature words rather than uninterpretable black-box decisions.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Official Channel Whitelist: </a:t>
            </a:r>
            <a:r>
              <a:rPr sz="1000">
                <a:solidFill>
                  <a:srgbClr val="475569"/>
                </a:solidFill>
              </a:rPr>
              <a:t>Cross-checks handles against trusted sources (PIB, ISRO, DRDO) to prevent false alerts on official communiques.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Live Web Search (Multi-Source RAG)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spaCy Named Entity Recognition: </a:t>
            </a:r>
            <a:r>
              <a:rPr sz="1000">
                <a:solidFill>
                  <a:srgbClr val="475569"/>
                </a:solidFill>
              </a:rPr>
              <a:t>Identifies core entities (ORG, GPE, PERSON, EVENT) with automated fallback cleaning.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Concurrent News Ingestion: </a:t>
            </a:r>
            <a:r>
              <a:rPr sz="1000">
                <a:solidFill>
                  <a:srgbClr val="475569"/>
                </a:solidFill>
              </a:rPr>
              <a:t>ThreadPoolExecutor queries PyGoogleNews, NewsAPI, Inshorts endpoints, and Open-News in parallel.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Recency &amp; Deduplication: </a:t>
            </a:r>
            <a:r>
              <a:rPr sz="1000">
                <a:solidFill>
                  <a:srgbClr val="475569"/>
                </a:solidFill>
              </a:rPr>
              <a:t>Enforces strict 24-48h recency filters and removes duplicate articles via normalized string similarity.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Gemini 2.5 Flash Synthesis: </a:t>
            </a:r>
            <a:r>
              <a:rPr sz="1000">
                <a:solidFill>
                  <a:srgbClr val="475569"/>
                </a:solidFill>
              </a:rPr>
              <a:t>Evaluates claims strictly against retrieved articles, returning status, confidence (0-100), and clickable citations.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Breaking News Override: </a:t>
            </a:r>
            <a:r>
              <a:rPr sz="1000">
                <a:solidFill>
                  <a:srgbClr val="475569"/>
                </a:solidFill>
              </a:rPr>
              <a:t>Corroborated mainstream coverage overrides offline static alerts to eliminate false positives.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04. COMPUTER VISION FORENSICS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Neural Deepfake Detection &amp; Facial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Integrating Kaggle DFDC 1st-place winning architecture with MTCNN boundary extraction.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333EA"/>
                </a:solidFill>
                <a:latin typeface="Segoe UI"/>
              </a:defRPr>
            </a:pPr>
            <a:r>
              <a:t>MTCNN Face Extraction (30% Margin)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DFDC Winning Foundation: </a:t>
            </a:r>
            <a:r>
              <a:rPr sz="1000">
                <a:solidFill>
                  <a:srgbClr val="475569"/>
                </a:solidFill>
              </a:rPr>
              <a:t>Faithfully implements Selim Seferbekov's 1st-place solution from Kaggle's Deepfake Detection Challenge.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Multi-Stage Face Detection: </a:t>
            </a:r>
            <a:r>
              <a:rPr sz="1000">
                <a:solidFill>
                  <a:srgbClr val="475569"/>
                </a:solidFill>
              </a:rPr>
              <a:t>facenet-pytorch MTCNN detects facial landmarks, selects the largest face, and outputs bounding coordinates.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Why the 30% Margin Expansion? </a:t>
            </a:r>
            <a:r>
              <a:rPr sz="1000">
                <a:solidFill>
                  <a:srgbClr val="475569"/>
                </a:solidFill>
              </a:rPr>
              <a:t>Deepfake generators blend synthetic faces into original footage, leaving seam artifacts along jawlines, ears, and hair.
Tight bounding boxes crop these seams out! Adding a 30% margin on all 4 sides captures the critical artifact boundaries needed for classification.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EfficientNet-B7 &amp; Video Forensics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EfficientNet-B7 Backbone: </a:t>
            </a:r>
            <a:r>
              <a:rPr sz="1000">
                <a:solidFill>
                  <a:srgbClr val="475569"/>
                </a:solidFill>
              </a:rPr>
              <a:t>Constructed via timm (tf_efficientnet_b7_ns) pre-trained with ImageNet Noisy Student self-training.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High-Resolution Tensor Input: </a:t>
            </a:r>
            <a:r>
              <a:rPr sz="1000">
                <a:solidFill>
                  <a:srgbClr val="475569"/>
                </a:solidFill>
              </a:rPr>
              <a:t>Resizes face crops to 380x380 resolution with ImageNet mean/std normalization.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Inference Service API: </a:t>
            </a:r>
            <a:r>
              <a:rPr sz="1000">
                <a:solidFill>
                  <a:srgbClr val="475569"/>
                </a:solidFill>
              </a:rPr>
              <a:t>deepfake_api.py accepts file paths, PIL images, or byte streams, outputting is_deepfake, confidence_score, and bounding boxes.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Video Temporal Forensics: </a:t>
            </a:r>
            <a:r>
              <a:rPr sz="1000">
                <a:solidFill>
                  <a:srgbClr val="475569"/>
                </a:solidFill>
              </a:rPr>
              <a:t>Decodes video frames, inspects facial regions sequentially, and tracks perceptual hash drift across frames to uncover splicing.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05. CRYPTOGRAPHIC FORENSICS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Dual-Layer Integrity &amp; Auditable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Combining mathematical bit-exact hashing with perceptual frequency footprints.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Cryptographic vs. Perceptual Hashing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000">
                <a:solidFill>
                  <a:srgbClr val="0F172A"/>
                </a:solidFill>
              </a:rPr>
              <a:t>- SHA-256 (Bit-Level Identity): </a:t>
            </a:r>
            <a:r>
              <a:rPr sz="1000">
                <a:solidFill>
                  <a:srgbClr val="475569"/>
                </a:solidFill>
              </a:rPr>
              <a:t>A 256-bit cryptographic digest. The avalanche effect guarantees that modifying a single bit changes the entire hash. Proves files are unaltered.</a:t>
            </a:r>
          </a:p>
          <a:p>
            <a:pPr>
              <a:spcAft>
                <a:spcPts val="1400"/>
              </a:spcAft>
            </a:pPr>
            <a:r>
              <a:rPr b="1" sz="1000">
                <a:solidFill>
                  <a:srgbClr val="0F172A"/>
                </a:solidFill>
              </a:rPr>
              <a:t>- Perceptual Hashing (pHash): </a:t>
            </a:r>
            <a:r>
              <a:rPr sz="1000">
                <a:solidFill>
                  <a:srgbClr val="475569"/>
                </a:solidFill>
              </a:rPr>
              <a:t>Computes Discrete Cosine Transform (DCT) frequency coefficients representing visual structure. Invariant to benign compression/resizing, but exposes localized tampering.</a:t>
            </a:r>
          </a:p>
          <a:p>
            <a:pPr>
              <a:spcAft>
                <a:spcPts val="1400"/>
              </a:spcAft>
            </a:pPr>
            <a:r>
              <a:rPr b="1" sz="1000">
                <a:solidFill>
                  <a:srgbClr val="0F172A"/>
                </a:solidFill>
              </a:rPr>
              <a:t>- Complementary Defense: </a:t>
            </a:r>
            <a:r>
              <a:rPr sz="1000">
                <a:solidFill>
                  <a:srgbClr val="475569"/>
                </a:solidFill>
              </a:rPr>
              <a:t>SHA-256 proves exact file identity; pHash proves whether two differently compressed images depict the exact same scene.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EXIF Extraction &amp; Chain of Custody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EXIF Metadata Forensics: </a:t>
            </a:r>
            <a:r>
              <a:rPr sz="1000">
                <a:solidFill>
                  <a:srgbClr val="475569"/>
                </a:solidFill>
              </a:rPr>
              <a:t>Pillow extracts embedded hardware tags: camera make/model, lens aperture, shutter speed, timestamp, and GPS coordinates.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Tampering Signature Detection: </a:t>
            </a:r>
            <a:r>
              <a:rPr sz="1000">
                <a:solidFill>
                  <a:srgbClr val="475569"/>
                </a:solidFill>
              </a:rPr>
              <a:t>Detects software editing traces (e.g. Adobe Photoshop, GIMP, or Canvas editing fingerprints) within metadata headers.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Immutable Chain of Custody: </a:t>
            </a:r>
            <a:r>
              <a:rPr sz="1000">
                <a:solidFill>
                  <a:srgbClr val="475569"/>
                </a:solidFill>
              </a:rPr>
              <a:t>Every analysis is registered in SQLite with an immutable UUIDv4, investigator identity, timestamps, hashes, and classification metrics.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Enterprise PDF Export: </a:t>
            </a:r>
            <a:r>
              <a:rPr sz="1000">
                <a:solidFill>
                  <a:srgbClr val="475569"/>
                </a:solidFill>
              </a:rPr>
              <a:t>Generates auditable, timestamped forensic reports suitable for legal review and organizational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06. DEVOPS &amp;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Production Engineering &amp; Cold-Boot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Architectural optimizations enabling serverless deployment and edge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Production Technology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Backend &amp; Web Framework: </a:t>
            </a:r>
            <a:r>
              <a:rPr sz="1000">
                <a:solidFill>
                  <a:srgbClr val="475569"/>
                </a:solidFill>
              </a:rPr>
              <a:t>Python 3.11+, Flask WSGI microframework, Jinja2 templating, and ThreadPoolExecutor.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Machine Learning &amp; AI: </a:t>
            </a:r>
            <a:r>
              <a:rPr sz="1000">
                <a:solidFill>
                  <a:srgbClr val="475569"/>
                </a:solidFill>
              </a:rPr>
              <a:t>PyTorch, timm, facenet-pytorch (MTCNN), Scikit-learn, and Google GenAI SDK (Gemini 2.5 Flash).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Storage &amp; Database: </a:t>
            </a:r>
            <a:r>
              <a:rPr sz="1000">
                <a:solidFill>
                  <a:srgbClr val="475569"/>
                </a:solidFill>
              </a:rPr>
              <a:t>SQLite3 (WAL mode) with parameterized queries for zero SQL-injection vulnerability.</a:t>
            </a:r>
          </a:p>
          <a:p>
            <a:pPr>
              <a:spcAft>
                <a:spcPts val="1200"/>
              </a:spcAft>
            </a:pPr>
            <a:r>
              <a:rPr b="1" sz="1000">
                <a:solidFill>
                  <a:srgbClr val="0F172A"/>
                </a:solidFill>
              </a:rPr>
              <a:t>- Frontend Design System: </a:t>
            </a:r>
            <a:r>
              <a:rPr sz="1000">
                <a:solidFill>
                  <a:srgbClr val="475569"/>
                </a:solidFill>
              </a:rPr>
              <a:t>Custom executive slate/charcoal CSS3 design system with mobile-first viewport scaling and floating card components.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1663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2024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Serverless &amp; Edge Optimization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Solving Serverless Cold-Boot: </a:t>
            </a:r>
            <a:r>
              <a:rPr sz="1000">
                <a:solidFill>
                  <a:srgbClr val="475569"/>
                </a:solidFill>
              </a:rPr>
              <a:t>Heavy libraries (PyTorch, spaCy, timm) exceeded Vercel's 10s limit. We implemented Lazy Singleton Loading, dropping cold boot from &gt;7.5s to 1.1s.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Vercel Edge CDN Pipeline: </a:t>
            </a:r>
            <a:r>
              <a:rPr sz="1000">
                <a:solidFill>
                  <a:srgbClr val="475569"/>
                </a:solidFill>
              </a:rPr>
              <a:t>Configured @vercel/static builders with check: true rules; stylesheets and assets are served globally via CDN with 0ms serverless delay.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Cloudflare Tunnel Daemon: </a:t>
            </a:r>
            <a:r>
              <a:rPr sz="1000">
                <a:solidFill>
                  <a:srgbClr val="475569"/>
                </a:solidFill>
              </a:rPr>
              <a:t>Continuous background cloudflared daemon exposes local development securely over HTTPS without port forwarding.</a:t>
            </a:r>
          </a:p>
          <a:p>
            <a:pPr>
              <a:spcAft>
                <a:spcPts val="1000"/>
              </a:spcAft>
            </a:pPr>
            <a:r>
              <a:rPr b="1" sz="1000">
                <a:solidFill>
                  <a:srgbClr val="0F172A"/>
                </a:solidFill>
              </a:rPr>
              <a:t>- Authentication &amp; Access: </a:t>
            </a:r>
            <a:r>
              <a:rPr sz="1000">
                <a:solidFill>
                  <a:srgbClr val="475569"/>
                </a:solidFill>
              </a:rPr>
              <a:t>PBKDF2 salted password hashing, HTTP-only SameSite session cookies, and @login_required endpoint protection.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Segoe UI"/>
              </a:defRPr>
            </a:pPr>
            <a:r>
              <a:t>07. BENCHMARKS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Segoe UI"/>
              </a:defRPr>
            </a:pPr>
            <a:r>
              <a:t>System Metrics, Target Impact &amp; Future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Empirical benchmarks, stakeholder benefits, and next-generation research roadmap.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6746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2.4 ms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NLP Text Inference Latency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06140" y="1691640"/>
            <a:ext cx="26746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1.8 - 2.4 s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Multi-Source RAG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1691640"/>
            <a:ext cx="26746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320 ms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GPU Deepfake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5380" y="1691640"/>
            <a:ext cx="26746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Segoe UI"/>
              </a:defRPr>
            </a:pPr>
            <a:r>
              <a:t>1.1 s</a:t>
            </a:r>
          </a:p>
          <a:p>
            <a:pPr algn="ctr">
              <a:defRPr sz="950">
                <a:solidFill>
                  <a:srgbClr val="475569"/>
                </a:solidFill>
                <a:latin typeface="Segoe UI"/>
              </a:defRPr>
            </a:pPr>
            <a:r>
              <a:t>Vercel Cold-Boot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51663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15468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Segoe UI"/>
              </a:defRPr>
            </a:pPr>
            <a:r>
              <a:t>Target Stakeholders &amp;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429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- Cyber Forensic Cells &amp; Police: </a:t>
            </a:r>
            <a:r>
              <a:rPr sz="950">
                <a:solidFill>
                  <a:srgbClr val="475569"/>
                </a:solidFill>
              </a:rPr>
              <a:t>Verifiable chain-of-custody reports for evidence intake and legal prosecution.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- Journalists &amp; Fact-Checkers: </a:t>
            </a:r>
            <a:r>
              <a:rPr sz="950">
                <a:solidFill>
                  <a:srgbClr val="475569"/>
                </a:solidFill>
              </a:rPr>
              <a:t>Rapid cross-checking of breaking viral claims against verified tier-1 news sources.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- General Public &amp; Researchers: </a:t>
            </a:r>
            <a:r>
              <a:rPr sz="950">
                <a:solidFill>
                  <a:srgbClr val="475569"/>
                </a:solidFill>
              </a:rPr>
              <a:t>Self-service verification of social media rumors, deepfake videos, and forged documents.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880360"/>
            <a:ext cx="51663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154680"/>
            <a:ext cx="4526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Segoe UI"/>
              </a:defRPr>
            </a:pPr>
            <a:r>
              <a:t>Next-Generation Roadmap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290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- Audio Deepfake Detection: </a:t>
            </a:r>
            <a:r>
              <a:rPr sz="950">
                <a:solidFill>
                  <a:srgbClr val="475569"/>
                </a:solidFill>
              </a:rPr>
              <a:t>Integrating wav2vec 2.0 and Whisper models to detect synthetic voice clones and forged speech.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- Browser Extension: </a:t>
            </a:r>
            <a:r>
              <a:rPr sz="950">
                <a:solidFill>
                  <a:srgbClr val="475569"/>
                </a:solidFill>
              </a:rPr>
              <a:t>One-click right-click verification extension directly on Twitter/X, WhatsApp Web, and Reddit.</a:t>
            </a:r>
          </a:p>
          <a:p>
            <a:pPr>
              <a:spcAft>
                <a:spcPts val="1000"/>
              </a:spcAft>
            </a:pPr>
            <a:r>
              <a:rPr b="1" sz="950">
                <a:solidFill>
                  <a:srgbClr val="0F172A"/>
                </a:solidFill>
              </a:rPr>
              <a:t>- Decentralized Hash Ledger: </a:t>
            </a:r>
            <a:r>
              <a:rPr sz="950">
                <a:solidFill>
                  <a:srgbClr val="475569"/>
                </a:solidFill>
              </a:rPr>
              <a:t>Anchoring forensic hash proofs to public blockchain networks (Polygon) for permanent public tamper-evidence.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